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13232"/>
            <a:ext cx="1508760" cy="109728"/>
          </a:xfrm>
          <a:prstGeom prst="rect">
            <a:avLst/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1143000"/>
            <a:ext cx="9144000" cy="18288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5400" b="1">
                <a:solidFill>
                  <a:srgbClr val="FFFFFF"/>
                </a:solidFill>
                <a:latin typeface="Aptos"/>
              </a:defRPr>
            </a:pPr>
            <a:r>
              <a:t>CONTRIBUTOR</a:t>
            </a:r>
          </a:p>
          <a:p>
            <a:pPr>
              <a:spcAft>
                <a:spcPts val="900"/>
              </a:spcAft>
              <a:defRPr sz="5400" b="1">
                <a:solidFill>
                  <a:srgbClr val="FFFFFF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91440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AFC6FF"/>
                </a:solidFill>
                <a:latin typeface="Aptos"/>
              </a:defRPr>
            </a:pPr>
            <a:r>
              <a:t>Hackathon Judge Q&amp;A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058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Gemma-powered RAG  |  Architecture • Demo • Evaluation •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23560"/>
            <a:ext cx="3931920" cy="502920"/>
          </a:xfrm>
          <a:prstGeom prst="roundRect">
            <a:avLst>
              <a:gd name="adj" fmla="val 16000"/>
            </a:avLst>
          </a:prstGeom>
          <a:solidFill>
            <a:srgbClr val="1E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01  / 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The idea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0881360" cy="1417320"/>
          </a:xfrm>
          <a:prstGeom prst="roundRect">
            <a:avLst>
              <a:gd name="adj" fmla="val 16000"/>
            </a:avLst>
          </a:prstGeom>
          <a:solidFill>
            <a:srgbClr val="0C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10195560" cy="9144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“We turn complex GitHub documentation into clear, source-cited answers for new contributors.”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429000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5" y="3867912"/>
            <a:ext cx="64008" cy="393192"/>
          </a:xfrm>
          <a:prstGeom prst="rect">
            <a:avLst/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38404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443984"/>
            <a:ext cx="2926080" cy="96011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Setup instructions, PR rules and style guides are scattered across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657600"/>
            <a:ext cx="3429000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53712" y="3867912"/>
            <a:ext cx="64008" cy="39319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38404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443984"/>
            <a:ext cx="2926080" cy="96011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Ask a question; retrieve relevant docs; answer with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3657600"/>
            <a:ext cx="3429000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93608" y="3867912"/>
            <a:ext cx="64008" cy="393192"/>
          </a:xfrm>
          <a:prstGeom prst="rect">
            <a:avLst/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38404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4443984"/>
            <a:ext cx="2926080" cy="96011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First-time contributors, students and new project maintainers.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03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RAG: the six-step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02996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12140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66543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8775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Divide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202996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12140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066543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58775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MiniLM + BM25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82880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02996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12140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066543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58775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RRF ranks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9476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" y="399592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408736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032504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5371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Relevance 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79476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79" y="399592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408736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4032504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455371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Gemma answers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794760"/>
            <a:ext cx="3383280" cy="1627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3995928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4087368"/>
            <a:ext cx="2286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032504"/>
            <a:ext cx="2286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CITE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553712"/>
            <a:ext cx="22860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E6C84"/>
                </a:solidFill>
                <a:latin typeface="Aptos"/>
              </a:defRPr>
            </a:pPr>
            <a:r>
              <a:t>Show 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971032"/>
            <a:ext cx="100584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3A64F5"/>
                </a:solidFill>
                <a:latin typeface="Aptos"/>
              </a:defRPr>
            </a:pPr>
            <a:r>
              <a:t>Chunk → Search → Combine → Verify → Generate → Cite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04  / 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MiniLM, BM25 and RRF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29000" cy="3291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3" y="2039112"/>
            <a:ext cx="64008" cy="39319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0116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MiniLM  • 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15184"/>
            <a:ext cx="2926080" cy="23774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Question: “start the server”</a:t>
            </a: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Docs: “launch the backend”</a:t>
            </a: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Finds similar meaning even with different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3291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62856" y="2039112"/>
            <a:ext cx="64008" cy="393192"/>
          </a:xfrm>
          <a:prstGeom prst="rect">
            <a:avLst/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0116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BM25  •  Keywords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615184"/>
            <a:ext cx="2926080" cy="23774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Question: “run pytest”</a:t>
            </a: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Docs contain: “pytest”</a:t>
            </a: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Ranks passages containing important matching terms.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29000" cy="3291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3608" y="2039112"/>
            <a:ext cx="64008" cy="39319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011680"/>
            <a:ext cx="29260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RRF  •  Combine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615184"/>
            <a:ext cx="2926080" cy="23774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Takes ranked results from both search methods.</a:t>
            </a: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5E6C84"/>
                </a:solidFill>
                <a:latin typeface="Aptos"/>
              </a:defRPr>
            </a:pPr>
            <a:r>
              <a:t>Promotes passages that rank well across the lists.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559552"/>
            <a:ext cx="5212080" cy="438912"/>
          </a:xfrm>
          <a:prstGeom prst="roundRect">
            <a:avLst>
              <a:gd name="adj" fmla="val 16000"/>
            </a:avLst>
          </a:prstGeom>
          <a:solidFill>
            <a:srgbClr val="E7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5650992"/>
            <a:ext cx="4992624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3A64F5"/>
                </a:solidFill>
                <a:latin typeface="Aptos"/>
              </a:defRPr>
            </a:pPr>
            <a:r>
              <a:t>Hybrid retrieval = semantic + keyword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06  / 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Threshold vs relevance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257800" cy="3337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3" y="2039112"/>
            <a:ext cx="64008" cy="39319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011680"/>
            <a:ext cx="47548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Threshold = Minimum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15184"/>
            <a:ext cx="4754880" cy="2423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Example threshold: 0.30</a:t>
            </a: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Score 0.82 → accepted</a:t>
            </a: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Score 0.12 → rejected</a:t>
            </a: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Assumes higher scores mean stronger relevance.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828800"/>
            <a:ext cx="5257800" cy="3337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2" y="2039112"/>
            <a:ext cx="64008" cy="393192"/>
          </a:xfrm>
          <a:prstGeom prst="rect">
            <a:avLst/>
          </a:prstGeom>
          <a:solidFill>
            <a:srgbClr val="0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011680"/>
            <a:ext cx="475488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C162B"/>
                </a:solidFill>
                <a:latin typeface="Aptos"/>
              </a:defRPr>
            </a:pPr>
            <a:r>
              <a:t>Gate = Decision 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615184"/>
            <a:ext cx="4754880" cy="2423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Uses the threshold and potentially other rules to decide whether evidence is sufficient.</a:t>
            </a: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5E6C84"/>
                </a:solidFill>
                <a:latin typeface="Aptos"/>
              </a:defRPr>
            </a:pPr>
            <a:r>
              <a:t>No evidence? Refuse instead of inventing an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5669280"/>
            <a:ext cx="6400800" cy="438912"/>
          </a:xfrm>
          <a:prstGeom prst="roundRect">
            <a:avLst>
              <a:gd name="adj" fmla="val 16000"/>
            </a:avLst>
          </a:prstGeom>
          <a:solidFill>
            <a:srgbClr val="E7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5760720"/>
            <a:ext cx="6181344" cy="24688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3A64F5"/>
                </a:solidFill>
                <a:latin typeface="Aptos"/>
              </a:defRPr>
            </a:pPr>
            <a:r>
              <a:t>A threshold is a setting; a relevance gate is a mechanism.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09  /  EVIDENCE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Technical questions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is RRF?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01952"/>
            <a:ext cx="630936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A method for combining ranked retrieval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are retrieved passages?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24912"/>
            <a:ext cx="630936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Relevant document sections returned for a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4787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does top-k = 4 mean?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47872"/>
            <a:ext cx="630936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Select up to four passages for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does threshold = 0.3 mean?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370832"/>
            <a:ext cx="630936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A configurable minimum relevance score, if higher means better.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9379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is the relevance gate?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193792"/>
            <a:ext cx="630936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A check for whether sufficient evidence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A6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91440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A64F5"/>
                </a:solidFill>
                <a:latin typeface="Aptos"/>
              </a:defRPr>
            </a:pPr>
            <a:r>
              <a:t>13  /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C162B"/>
                </a:solidFill>
                <a:latin typeface="Aptos"/>
              </a:defRPr>
            </a:pPr>
            <a:r>
              <a:t>The toughest judge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27080" cy="22860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73152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E6C84"/>
                </a:solidFill>
                <a:latin typeface="Aptos"/>
              </a:defRPr>
            </a:pPr>
            <a:r>
              <a:t>CONTRIBUTOR GUIDE  •  GEMMA +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457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E6C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was the biggest challenge?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01952"/>
            <a:ext cx="6400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Discuss the actual retrieval or API issue your team solved.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Why this chunk size?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24912"/>
            <a:ext cx="6400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Explain heading-based design; cite experiments only if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4787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How are citations validated?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47872"/>
            <a:ext cx="6400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Check that cited passages truly support each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What is your main limitation?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370832"/>
            <a:ext cx="6400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Missing or outdated docs can cause gaps or errors.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78992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F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93792"/>
            <a:ext cx="3749039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62B"/>
                </a:solidFill>
                <a:latin typeface="Aptos"/>
              </a:defRPr>
            </a:pPr>
            <a:r>
              <a:t>Why should judges choose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193792"/>
            <a:ext cx="6400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E6C84"/>
                </a:solidFill>
                <a:latin typeface="Aptos"/>
              </a:defRPr>
            </a:pPr>
            <a:r>
              <a:t>Practical onboarding help with traceable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